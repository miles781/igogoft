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F5FC94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3636" autoAdjust="0"/>
    <p:restoredTop sz="94660"/>
  </p:normalViewPr>
  <p:slideViewPr>
    <p:cSldViewPr showGuides="1" snapToGrid="0">
      <p:cViewPr>
        <p:scale>
          <a:sx n="64" d="100"/>
          <a:sy n="64" d="100"/>
        </p:scale>
        <p:origin x="800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 snapToGrid="0">
      <p:cViewPr varScale="1">
        <p:scale>
          <a:sx n="58" d="100"/>
          <a:sy n="58" d="100"/>
        </p:scale>
        <p:origin x="1974" y="90"/>
      </p:cViewPr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tableStyles" Target="tableStyle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customXml" Target="../customXml/item1.xml"/><Relationship Id="rId54" Type="http://schemas.openxmlformats.org/officeDocument/2006/relationships/customXmlProps" Target="../customXml/itemProps1.xml"/><Relationship Id="rId55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7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11/30/2025</a:t>
            </a:fld>
          </a:p>
        </p:txBody>
      </p:sp>
      <p:sp>
        <p:nvSpPr>
          <p:cNvPr id="104875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06834459-7356-44BF-850D-8B30C4FB3B6B}" type="slidenum">
              <a:t>‹#›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11/30/2025</a:t>
            </a:fld>
          </a:p>
        </p:txBody>
      </p:sp>
      <p:sp>
        <p:nvSpPr>
          <p:cNvPr id="104875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7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0A3C37BE-C303-496D-B5CD-85F2937540FC}" type="slidenum">
              <a:t>‹#›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Slide Image Placeholder 1"/>
          <p:cNvSpPr>
            <a:spLocks noChangeAspect="1" noRot="1" noGrp="1"/>
          </p:cNvSpPr>
          <p:nvPr>
            <p:ph type="sldImg"/>
          </p:nvPr>
        </p:nvSpPr>
        <p:spPr/>
        <p:txBody>
          <a:bodyPr/>
          <a:p>
            <a:endParaRPr lang="en-US"/>
          </a:p>
        </p:txBody>
      </p:sp>
      <p:sp>
        <p:nvSpPr>
          <p:cNvPr id="10485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1" dirty="0" i="1" lang="en-US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dirty="0" i="1" lang="en-US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Rectangle 7"/>
          <p:cNvSpPr/>
          <p:nvPr/>
        </p:nvSpPr>
        <p:spPr>
          <a:xfrm>
            <a:off x="0" y="0"/>
            <a:ext cx="12192000" cy="1079876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pic>
        <p:nvPicPr>
          <p:cNvPr id="2097168" name="Picture 10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/>
        </p:spPr>
      </p:pic>
      <p:sp>
        <p:nvSpPr>
          <p:cNvPr id="104872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baseline="0" cap="all"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algn="l" indent="0" marL="0">
              <a:spcBef>
                <a:spcPts val="0"/>
              </a:spcBef>
              <a:buNone/>
              <a:defRPr sz="18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24" name="Rectangle 6"/>
          <p:cNvSpPr/>
          <p:nvPr/>
        </p:nvSpPr>
        <p:spPr>
          <a:xfrm>
            <a:off x="0" y="5778124"/>
            <a:ext cx="12192000" cy="1079876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t>11/30/2025</a:t>
            </a:fld>
            <a:endParaRPr dirty="0" lang="en-US"/>
          </a:p>
        </p:txBody>
      </p:sp>
      <p:sp>
        <p:nvSpPr>
          <p:cNvPr id="10487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7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 with Picture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baseline="0" cap="all"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algn="l" indent="0" marL="0">
              <a:spcBef>
                <a:spcPts val="0"/>
              </a:spcBef>
              <a:buNone/>
              <a:defRPr sz="18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algn="ctr" indent="0" marL="0">
              <a:buNone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48584" name="Rectangle 7"/>
          <p:cNvSpPr/>
          <p:nvPr/>
        </p:nvSpPr>
        <p:spPr>
          <a:xfrm>
            <a:off x="0" y="0"/>
            <a:ext cx="12192000" cy="1079876"/>
          </a:xfrm>
          <a:prstGeom prst="rect"/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grpSp>
        <p:nvGrpSpPr>
          <p:cNvPr id="28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3145730" name="Straight Connector 14"/>
            <p:cNvCxnSpPr>
              <a:cxnSpLocks/>
            </p:cNvCxnSpPr>
            <p:nvPr/>
          </p:nvCxnSpPr>
          <p:spPr>
            <a:xfrm>
              <a:off x="507492" y="1564644"/>
              <a:ext cx="8129016" cy="0"/>
            </a:xfrm>
            <a:prstGeom prst="line"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5"/>
            <p:cNvCxnSpPr>
              <a:cxnSpLocks/>
            </p:cNvCxnSpPr>
            <p:nvPr/>
          </p:nvCxnSpPr>
          <p:spPr>
            <a:xfrm>
              <a:off x="507492" y="1501519"/>
              <a:ext cx="8129016" cy="0"/>
            </a:xfrm>
            <a:prstGeom prst="line"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3145732" name="Straight Connector 16"/>
            <p:cNvCxnSpPr>
              <a:cxnSpLocks/>
            </p:cNvCxnSpPr>
            <p:nvPr/>
          </p:nvCxnSpPr>
          <p:spPr>
            <a:xfrm>
              <a:off x="507492" y="1564644"/>
              <a:ext cx="8129016" cy="0"/>
            </a:xfrm>
            <a:prstGeom prst="line"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3" name="Straight Connector 17"/>
            <p:cNvCxnSpPr>
              <a:cxnSpLocks/>
            </p:cNvCxnSpPr>
            <p:nvPr/>
          </p:nvCxnSpPr>
          <p:spPr>
            <a:xfrm>
              <a:off x="507492" y="1501519"/>
              <a:ext cx="8129016" cy="0"/>
            </a:xfrm>
            <a:prstGeom prst="line"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85" name="Rectangle 6"/>
          <p:cNvSpPr/>
          <p:nvPr/>
        </p:nvSpPr>
        <p:spPr>
          <a:xfrm>
            <a:off x="0" y="5778124"/>
            <a:ext cx="12192000" cy="1079876"/>
          </a:xfrm>
          <a:prstGeom prst="rect"/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77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3145734" name="Straight Connector 13"/>
              <p:cNvCxnSpPr>
                <a:cxnSpLocks/>
              </p:cNvCxnSpPr>
              <p:nvPr/>
            </p:nvCxnSpPr>
            <p:spPr>
              <a:xfrm>
                <a:off x="507492" y="1564644"/>
                <a:ext cx="8129016" cy="0"/>
              </a:xfrm>
              <a:prstGeom prst="line"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5" name="Straight Connector 14"/>
              <p:cNvCxnSpPr>
                <a:cxnSpLocks/>
              </p:cNvCxnSpPr>
              <p:nvPr/>
            </p:nvCxnSpPr>
            <p:spPr>
              <a:xfrm>
                <a:off x="507492" y="1501519"/>
                <a:ext cx="8129016" cy="0"/>
              </a:xfrm>
              <a:prstGeom prst="line"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8609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/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</a:p>
          </p:txBody>
        </p:sp>
        <p:grpSp>
          <p:nvGrpSpPr>
            <p:cNvPr id="78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3145736" name="Straight Connector 11"/>
              <p:cNvCxnSpPr>
                <a:cxnSpLocks/>
              </p:cNvCxnSpPr>
              <p:nvPr/>
            </p:nvCxnSpPr>
            <p:spPr>
              <a:xfrm>
                <a:off x="507492" y="1564644"/>
                <a:ext cx="8129016" cy="0"/>
              </a:xfrm>
              <a:prstGeom prst="line"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7" name="Straight Connector 12"/>
              <p:cNvCxnSpPr>
                <a:cxnSpLocks/>
              </p:cNvCxnSpPr>
              <p:nvPr/>
            </p:nvCxnSpPr>
            <p:spPr>
              <a:xfrm>
                <a:off x="507492" y="1501519"/>
                <a:ext cx="8129016" cy="0"/>
              </a:xfrm>
              <a:prstGeom prst="line"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8610" name="Title 1"/>
          <p:cNvSpPr>
            <a:spLocks noGrp="1"/>
          </p:cNvSpPr>
          <p:nvPr>
            <p:ph type="title" hasCustomPrompt="1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baseline="0" cap="all" sz="4400">
                <a:solidFill>
                  <a:schemeClr val="bg1"/>
                </a:solidFill>
              </a:defRPr>
            </a:lvl1pPr>
          </a:lstStyle>
          <a:p>
            <a:r>
              <a:rPr dirty="0" lang="en-US"/>
              <a:t>HOW TO BUILD CONSISTENCY IN any market</a:t>
            </a:r>
            <a:endParaRPr dirty="0"/>
          </a:p>
        </p:txBody>
      </p:sp>
      <p:sp>
        <p:nvSpPr>
          <p:cNvPr id="1048611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indent="0" marL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6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/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45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6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7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7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indent="0" marL="0">
              <a:spcBef>
                <a:spcPts val="0"/>
              </a:spcBef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indent="0" marL="0">
              <a:spcBef>
                <a:spcPts val="0"/>
              </a:spcBef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7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68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69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5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5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71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7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5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indent="0" marL="0">
              <a:spcBef>
                <a:spcPts val="1200"/>
              </a:spcBef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indent="0" marL="0">
              <a:spcBef>
                <a:spcPts val="1200"/>
              </a:spcBef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0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algn="ctr" indent="0" marL="0">
              <a:buNone/>
              <a:defRPr sz="20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7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3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2B9795-92DC-40DC-A1CA-9A4B349D7824}" type="datetimeFigureOut">
              <a:rPr lang="en-US"/>
              <a:t>11/30/2025</a:t>
            </a:fld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F54DE5-C571-48E8-A5BC-B369434E2F44}" type="slidenum">
              <a:t>‹#›</a:t>
            </a:fld>
          </a:p>
        </p:txBody>
      </p:sp>
      <p:grpSp>
        <p:nvGrpSpPr>
          <p:cNvPr id="125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3145738" name="Straight Connector 7"/>
            <p:cNvCxnSpPr>
              <a:cxnSpLocks/>
            </p:cNvCxnSpPr>
            <p:nvPr/>
          </p:nvCxnSpPr>
          <p:spPr>
            <a:xfrm rot="10800000">
              <a:off x="1073150" y="1219201"/>
              <a:ext cx="10058400" cy="0"/>
            </a:xfrm>
            <a:prstGeom prst="line"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9" name="Straight Connector 8"/>
            <p:cNvCxnSpPr>
              <a:cxnSpLocks/>
            </p:cNvCxnSpPr>
            <p:nvPr/>
          </p:nvCxnSpPr>
          <p:spPr>
            <a:xfrm rot="10800000">
              <a:off x="1073150" y="1282326"/>
              <a:ext cx="10058400" cy="0"/>
            </a:xfrm>
            <a:prstGeom prst="line"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/>
        </p:spPr>
        <p:txBody>
          <a:bodyPr anchor="b" bIns="45720" lIns="0" rIns="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/>
        </p:spPr>
        <p:txBody>
          <a:bodyPr bIns="45720" lIns="0" rIns="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/>
        </p:spPr>
        <p:txBody>
          <a:bodyPr anchor="ctr" bIns="45720" lIns="0" rIns="0" rtlCol="0" tIns="45720" vert="horz"/>
          <a:lstStyle>
            <a:lvl1pPr algn="l">
              <a:defRPr baseline="0"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/>
        </p:spPr>
        <p:txBody>
          <a:bodyPr anchor="ctr" bIns="45720" lIns="0" rIns="0" rtlCol="0" tIns="45720" vert="horz"/>
          <a:lstStyle>
            <a:lvl1pPr algn="ctr">
              <a:defRPr baseline="0"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/>
        </p:spPr>
        <p:txBody>
          <a:bodyPr anchor="ctr" bIns="45720" lIns="0" rIns="0" rtlCol="0" tIns="45720" vert="horz"/>
          <a:lstStyle>
            <a:lvl1pPr algn="r">
              <a:defRPr baseline="0"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3145728" name="Straight Connector 12"/>
            <p:cNvCxnSpPr>
              <a:cxnSpLocks/>
            </p:cNvCxnSpPr>
            <p:nvPr/>
          </p:nvCxnSpPr>
          <p:spPr>
            <a:xfrm rot="10800000">
              <a:off x="1073150" y="1219201"/>
              <a:ext cx="10058400" cy="0"/>
            </a:xfrm>
            <a:prstGeom prst="line"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13"/>
            <p:cNvCxnSpPr>
              <a:cxnSpLocks/>
            </p:cNvCxnSpPr>
            <p:nvPr/>
          </p:nvCxnSpPr>
          <p:spPr>
            <a:xfrm rot="10800000">
              <a:off x="1073150" y="1282326"/>
              <a:ext cx="10058400" cy="0"/>
            </a:xfrm>
            <a:prstGeom prst="line"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9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9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hyperlink" Target="https://chat.whatsapp.com/K5beqvgp3OE6mzY9WXaCNK?mode=wwt" TargetMode="External"/><Relationship Id="rId2" Type="http://schemas.openxmlformats.org/officeDocument/2006/relationships/slideLayout" Target="../slideLayouts/slideLayout9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8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5"/>
          <p:cNvSpPr>
            <a:spLocks noGrp="1"/>
          </p:cNvSpPr>
          <p:nvPr>
            <p:ph type="ctrTitle"/>
          </p:nvPr>
        </p:nvSpPr>
        <p:spPr>
          <a:xfrm>
            <a:off x="537210" y="2319154"/>
            <a:ext cx="5558790" cy="2219691"/>
          </a:xfrm>
        </p:spPr>
        <p:txBody>
          <a:bodyPr anchor="ctr"/>
          <a:p>
            <a:r>
              <a:rPr dirty="0" lang="en-US">
                <a:solidFill>
                  <a:srgbClr val="002060"/>
                </a:solidFill>
              </a:rPr>
              <a:t>    </a:t>
            </a:r>
            <a:r>
              <a:rPr dirty="0" sz="4800" lang="en-US">
                <a:solidFill>
                  <a:srgbClr val="002060"/>
                </a:solidFill>
              </a:rPr>
              <a:t>202</a:t>
            </a:r>
            <a:r>
              <a:rPr dirty="0" sz="4800" lang="en-US">
                <a:solidFill>
                  <a:srgbClr val="002060"/>
                </a:solidFill>
              </a:rPr>
              <a:t>6</a:t>
            </a:r>
            <a:r>
              <a:rPr dirty="0" sz="4800" lang="en-US">
                <a:solidFill>
                  <a:srgbClr val="002060"/>
                </a:solidFill>
              </a:rPr>
              <a:t> </a:t>
            </a:r>
            <a:br>
              <a:rPr dirty="0" sz="4800" lang="en-US">
                <a:solidFill>
                  <a:srgbClr val="002060"/>
                </a:solidFill>
              </a:rPr>
            </a:br>
            <a:r>
              <a:rPr dirty="0" sz="4800" lang="en-US">
                <a:solidFill>
                  <a:srgbClr val="002060"/>
                </a:solidFill>
              </a:rPr>
              <a:t>   TRADER RESET</a:t>
            </a:r>
            <a:endParaRPr altLang="en-US" lang="zh-CN"/>
          </a:p>
        </p:txBody>
      </p:sp>
      <p:sp>
        <p:nvSpPr>
          <p:cNvPr id="1048587" name="Subtitle 6"/>
          <p:cNvSpPr>
            <a:spLocks noGrp="1"/>
          </p:cNvSpPr>
          <p:nvPr>
            <p:ph type="subTitle" idx="1"/>
          </p:nvPr>
        </p:nvSpPr>
        <p:spPr>
          <a:xfrm>
            <a:off x="1104900" y="4765040"/>
            <a:ext cx="5742940" cy="702309"/>
          </a:xfrm>
        </p:spPr>
        <p:txBody>
          <a:bodyPr/>
          <a:p>
            <a:r>
              <a:rPr dirty="0" lang="en-US"/>
              <a:t>RESET YOUR TRADING STRATEGY AND ENTER 2026 WITH CLARITY, CONFIDENCE AND CONSISTENCY</a:t>
            </a:r>
          </a:p>
        </p:txBody>
      </p:sp>
      <p:pic>
        <p:nvPicPr>
          <p:cNvPr id="2097152" name="Picture Placeholder 3"/>
          <p:cNvPicPr>
            <a:picLocks noChangeAspect="1" noGrp="1"/>
          </p:cNvPicPr>
          <p:nvPr>
            <p:ph type="pic" sz="quarter" idx="13"/>
          </p:nvPr>
        </p:nvPicPr>
        <p:blipFill>
          <a:blip xmlns:r="http://schemas.openxmlformats.org/officeDocument/2006/relationships" r:embed="rId1"/>
          <a:srcRect t="10141" b="10141"/>
          <a:stretch>
            <a:fillRect/>
          </a:stretch>
        </p:blipFill>
        <p:spPr>
          <a:xfrm>
            <a:off x="6981064" y="1310656"/>
            <a:ext cx="5079392" cy="4208604"/>
          </a:xfrm>
        </p:spPr>
      </p:pic>
      <p:sp>
        <p:nvSpPr>
          <p:cNvPr id="1048588" name="Subtitle 6"/>
          <p:cNvSpPr txBox="1"/>
          <p:nvPr/>
        </p:nvSpPr>
        <p:spPr>
          <a:xfrm>
            <a:off x="7609840" y="6441441"/>
            <a:ext cx="4754880" cy="416559"/>
          </a:xfrm>
          <a:prstGeom prst="rect"/>
        </p:spPr>
        <p:txBody>
          <a:bodyPr bIns="45720" lIns="0" rIns="0" rtlCol="0" tIns="45720" vert="horz">
            <a:normAutofit/>
          </a:bodyPr>
          <a:lstStyle>
            <a:lvl1pPr algn="l" defTabSz="914400" eaLnBrk="1" hangingPunct="1" indent="0" latinLnBrk="0" marL="0" rtl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ctr" defTabSz="914400" eaLnBrk="1" hangingPunct="1" indent="0" latinLnBrk="0" marL="4572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ctr" defTabSz="914400" eaLnBrk="1" hangingPunct="1" indent="0" latinLnBrk="0" marL="9144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ctr" defTabSz="914400" eaLnBrk="1" hangingPunct="1" indent="0" latinLnBrk="0" marL="13716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ctr" defTabSz="914400" eaLnBrk="1" hangingPunct="1" indent="0" latinLnBrk="0" marL="18288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ctr" defTabSz="914400" eaLnBrk="1" hangingPunct="1" indent="0" latinLnBrk="0" marL="22860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ctr" defTabSz="914400" eaLnBrk="1" hangingPunct="1" indent="0" latinLnBrk="0" marL="27432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ctr" defTabSz="914400" eaLnBrk="1" hangingPunct="1" indent="0" latinLnBrk="0" marL="32004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ctr" defTabSz="914400" eaLnBrk="1" hangingPunct="1" indent="0" latinLnBrk="0" marL="36576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lang="en-US">
                <a:solidFill>
                  <a:schemeClr val="bg1"/>
                </a:solidFill>
              </a:rPr>
              <a:t>POWERED BY ANGELO TRADING ACADEMY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Welcome to Angelo Trading Academy</a:t>
            </a:r>
          </a:p>
        </p:txBody>
      </p:sp>
      <p:sp>
        <p:nvSpPr>
          <p:cNvPr id="1048597" name="Rectangle 1"/>
          <p:cNvSpPr>
            <a:spLocks noChangeArrowheads="1"/>
          </p:cNvSpPr>
          <p:nvPr/>
        </p:nvSpPr>
        <p:spPr bwMode="auto">
          <a:xfrm>
            <a:off x="1104900" y="2334259"/>
            <a:ext cx="7113786" cy="1631216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learning space for beginners &amp; experienced traders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mission: Build confident, independent traders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Today’s session = clarity + structure + growth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Meet Your Instructor</a:t>
            </a:r>
          </a:p>
        </p:txBody>
      </p:sp>
      <p:sp>
        <p:nvSpPr>
          <p:cNvPr id="1048599" name="Rectangle 1"/>
          <p:cNvSpPr>
            <a:spLocks noChangeArrowheads="1"/>
          </p:cNvSpPr>
          <p:nvPr/>
        </p:nvSpPr>
        <p:spPr bwMode="auto">
          <a:xfrm rot="10800000" flipV="1">
            <a:off x="995606" y="1353021"/>
            <a:ext cx="7929212" cy="52730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r>
              <a:rPr b="1" dirty="0" sz="2000" lang="en-US"/>
              <a:t>Founder, Angelo Trading Academy</a:t>
            </a:r>
          </a:p>
          <a:p>
            <a:endParaRPr dirty="0" sz="2000" lang="en-US"/>
          </a:p>
          <a:p>
            <a:r>
              <a:rPr dirty="0" sz="2000" lang="en-US"/>
              <a:t>I am a forex and crypto market analyst with </a:t>
            </a:r>
            <a:r>
              <a:rPr b="1" dirty="0" sz="2000" lang="en-US"/>
              <a:t>4+ years of trading experience</a:t>
            </a:r>
            <a:r>
              <a:rPr dirty="0" sz="2000" lang="en-US"/>
              <a:t>, specializing in </a:t>
            </a:r>
            <a:r>
              <a:rPr b="1" dirty="0" sz="2000" lang="en-US"/>
              <a:t>price action, market psychology, and building consistent routines</a:t>
            </a:r>
            <a:r>
              <a:rPr dirty="0" sz="2000" lang="en-US"/>
              <a:t>.</a:t>
            </a:r>
          </a:p>
          <a:p>
            <a:r>
              <a:rPr dirty="0" sz="2000" lang="en-US"/>
              <a:t>I began trading with no background or support, and through years of learning, testing, and refining my system, I developed a clear step-by-step approach that helps traders grow without confusion.</a:t>
            </a:r>
          </a:p>
          <a:p>
            <a:endParaRPr dirty="0" sz="2000" lang="en-US"/>
          </a:p>
          <a:p>
            <a:r>
              <a:rPr b="1" dirty="0" sz="2000" lang="en-US"/>
              <a:t>My Mission:</a:t>
            </a:r>
          </a:p>
          <a:p>
            <a:endParaRPr dirty="0" sz="2000" lang="en-US"/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Create a beginner-friendly learning environment</a:t>
            </a:r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Teach practical, real-life trading systems</a:t>
            </a:r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Help traders build discipline, structure, and consistency</a:t>
            </a:r>
          </a:p>
          <a:p>
            <a:endParaRPr dirty="0" sz="2000" lang="en-US"/>
          </a:p>
          <a:p>
            <a:r>
              <a:rPr dirty="0" sz="2000" lang="en-US"/>
              <a:t>Today, I mentor traders at all levels, helping them understand the market, build confidence, and grow at their own pace.</a:t>
            </a:r>
          </a:p>
        </p:txBody>
      </p:sp>
      <p:pic>
        <p:nvPicPr>
          <p:cNvPr id="2097153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21792" b="12145"/>
          <a:stretch>
            <a:fillRect/>
          </a:stretch>
        </p:blipFill>
        <p:spPr>
          <a:xfrm>
            <a:off x="8924818" y="1713215"/>
            <a:ext cx="3267182" cy="3431569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Real ATA Student Transformations</a:t>
            </a:r>
          </a:p>
        </p:txBody>
      </p:sp>
      <p:sp>
        <p:nvSpPr>
          <p:cNvPr id="1048606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1017143" y="1564039"/>
            <a:ext cx="6179856" cy="258064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trade journaling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4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discipline → fewer emotional trades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4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Clearer chart markups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dirty="0" sz="24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consistency routines</a:t>
            </a:r>
          </a:p>
        </p:txBody>
      </p:sp>
      <p:pic>
        <p:nvPicPr>
          <p:cNvPr id="2097154" name="Picture 18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261593" y="4535558"/>
            <a:ext cx="3635828" cy="2085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pic>
        <p:nvPicPr>
          <p:cNvPr id="2097155" name="Picture 2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132405" y="1838876"/>
            <a:ext cx="2811195" cy="4782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pic>
        <p:nvPicPr>
          <p:cNvPr id="2097156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866907" y="4535558"/>
            <a:ext cx="3277194" cy="2085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What You Will Learn Today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sz="half" idx="4294967295"/>
          </p:nvPr>
        </p:nvSpPr>
        <p:spPr>
          <a:xfrm>
            <a:off x="1104900" y="1490472"/>
            <a:ext cx="4914900" cy="4572000"/>
          </a:xfrm>
        </p:spPr>
        <p:txBody>
          <a:bodyPr/>
          <a:p>
            <a:r>
              <a:rPr dirty="0" lang="en-US"/>
              <a:t>Building consistency in any market condition</a:t>
            </a:r>
          </a:p>
          <a:p>
            <a:r>
              <a:rPr dirty="0" lang="en-US"/>
              <a:t>The 3 trader growth phases</a:t>
            </a:r>
          </a:p>
          <a:p>
            <a:r>
              <a:rPr dirty="0" lang="en-US"/>
              <a:t>Your personal trading roadmap for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How to build consistency in any market </a:t>
            </a:r>
          </a:p>
        </p:txBody>
      </p:sp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FOREX,CRYPTO,STOCK.ETC.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What Is Trading Consistency?</a:t>
            </a: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The Truth About Consistency</a:t>
            </a:r>
          </a:p>
          <a:p>
            <a:endParaRPr dirty="0" lang="en-US"/>
          </a:p>
          <a:p>
            <a:r>
              <a:rPr dirty="0" lang="en-US"/>
              <a:t>Not winning every trade</a:t>
            </a:r>
          </a:p>
          <a:p>
            <a:r>
              <a:rPr dirty="0" lang="en-US"/>
              <a:t>Predictable process → predictable results</a:t>
            </a:r>
          </a:p>
          <a:p>
            <a:r>
              <a:rPr dirty="0" lang="en-US"/>
              <a:t>Consistency = repeatable system + discipline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Market Conditions Every Trader Faces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3 Key Market Conditions</a:t>
            </a:r>
          </a:p>
          <a:p>
            <a:endParaRPr dirty="0" lang="en-US"/>
          </a:p>
          <a:p>
            <a:r>
              <a:rPr dirty="0" lang="en-US"/>
              <a:t>Trending market → clear direction</a:t>
            </a:r>
          </a:p>
          <a:p>
            <a:r>
              <a:rPr dirty="0" lang="en-US"/>
              <a:t>Ranging market → sideways movement</a:t>
            </a:r>
          </a:p>
          <a:p>
            <a:r>
              <a:rPr dirty="0" lang="en-US"/>
              <a:t>Manipulative/choppy → liquidity hunts</a:t>
            </a:r>
          </a:p>
        </p:txBody>
      </p:sp>
      <p:pic>
        <p:nvPicPr>
          <p:cNvPr id="2097157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95241" y="1920240"/>
            <a:ext cx="5835904" cy="355701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Why Traders Lose Consistency</a:t>
            </a:r>
          </a:p>
        </p:txBody>
      </p:sp>
      <p:sp>
        <p:nvSpPr>
          <p:cNvPr id="1048622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The 4 Enemies of Consistency</a:t>
            </a:r>
          </a:p>
          <a:p>
            <a:pPr indent="0" marL="0">
              <a:buNone/>
            </a:pPr>
            <a:endParaRPr dirty="0" i="1" lang="en-US"/>
          </a:p>
          <a:p>
            <a:r>
              <a:rPr dirty="0" lang="en-US"/>
              <a:t>Overtrading (impulse entries)</a:t>
            </a:r>
          </a:p>
          <a:p>
            <a:r>
              <a:rPr dirty="0" lang="en-US"/>
              <a:t>Small account pressure</a:t>
            </a:r>
          </a:p>
          <a:p>
            <a:r>
              <a:rPr dirty="0" lang="en-US"/>
              <a:t>No fixed setup</a:t>
            </a:r>
          </a:p>
          <a:p>
            <a:r>
              <a:rPr dirty="0" lang="en-US"/>
              <a:t>Emotional decision-making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ATA Consistency Blueprint</a:t>
            </a: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The 4-Part Consistency Framework</a:t>
            </a:r>
          </a:p>
          <a:p>
            <a:pPr indent="0" marL="0">
              <a:buNone/>
            </a:pPr>
            <a:endParaRPr dirty="0" i="1" lang="en-US"/>
          </a:p>
          <a:p>
            <a:pPr indent="-457200" marL="457200">
              <a:buFont typeface="+mj-lt"/>
              <a:buAutoNum type="arabicPeriod"/>
            </a:pPr>
            <a:r>
              <a:rPr dirty="0" lang="en-US"/>
              <a:t>One Market (Crypto,Forex,indices.etc)</a:t>
            </a:r>
          </a:p>
          <a:p>
            <a:pPr indent="-457200" marL="457200">
              <a:buFont typeface="+mj-lt"/>
              <a:buAutoNum type="arabicPeriod"/>
            </a:pPr>
            <a:r>
              <a:rPr dirty="0" lang="en-US"/>
              <a:t>One clear trade setup</a:t>
            </a:r>
          </a:p>
          <a:p>
            <a:pPr indent="-457200" marL="457200">
              <a:buFont typeface="+mj-lt"/>
              <a:buAutoNum type="arabicPeriod"/>
            </a:pPr>
            <a:r>
              <a:rPr dirty="0" lang="en-US"/>
              <a:t>Time and routine </a:t>
            </a:r>
          </a:p>
          <a:p>
            <a:pPr indent="-457200" marL="457200">
              <a:buFont typeface="+mj-lt"/>
              <a:buAutoNum type="arabicPeriod"/>
            </a:pPr>
            <a:r>
              <a:rPr dirty="0" lang="en-US"/>
              <a:t>Risk discipline</a:t>
            </a:r>
          </a:p>
          <a:p>
            <a:pPr indent="-457200" marL="457200">
              <a:buFont typeface="+mj-lt"/>
              <a:buAutoNum type="arabicPeriod"/>
            </a:pPr>
            <a:r>
              <a:rPr dirty="0" lang="en-US"/>
              <a:t>Journal → Review → Improve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Understanding one market </a:t>
            </a: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Master ONE Market First</a:t>
            </a:r>
          </a:p>
          <a:p>
            <a:pPr indent="0" marL="0">
              <a:buNone/>
            </a:pPr>
            <a:endParaRPr dirty="0" i="1" lang="en-US"/>
          </a:p>
          <a:p>
            <a:r>
              <a:rPr dirty="0" lang="en-US"/>
              <a:t>Choose the market </a:t>
            </a:r>
          </a:p>
          <a:p>
            <a:r>
              <a:rPr dirty="0" lang="en-US"/>
              <a:t>Understand how it works </a:t>
            </a:r>
          </a:p>
          <a:p>
            <a:r>
              <a:rPr dirty="0" lang="en-US"/>
              <a:t>Trade it only = Build experience &amp; competence</a:t>
            </a:r>
          </a:p>
          <a:p>
            <a:pPr indent="0" marL="0">
              <a:buNone/>
            </a:pPr>
            <a:endParaRPr dirty="0" i="1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Setup Familiarity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Master ONE Setup First</a:t>
            </a:r>
          </a:p>
          <a:p>
            <a:endParaRPr dirty="0" lang="en-US"/>
          </a:p>
          <a:p>
            <a:r>
              <a:rPr dirty="0" lang="en-US"/>
              <a:t>Know your setup’s structure</a:t>
            </a:r>
          </a:p>
          <a:p>
            <a:r>
              <a:rPr dirty="0" lang="en-US"/>
              <a:t>Know when it forms</a:t>
            </a:r>
          </a:p>
          <a:p>
            <a:r>
              <a:rPr dirty="0" lang="en-US"/>
              <a:t>Know when it fails</a:t>
            </a:r>
          </a:p>
          <a:p>
            <a:r>
              <a:rPr dirty="0" lang="en-US"/>
              <a:t>Avoid mixing strategies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Time &amp; Routine</a:t>
            </a:r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Trading Routine = Trading Confidence</a:t>
            </a:r>
          </a:p>
          <a:p>
            <a:pPr indent="0" marL="0">
              <a:buNone/>
            </a:pPr>
            <a:endParaRPr dirty="0" i="1" lang="en-US"/>
          </a:p>
          <a:p>
            <a:r>
              <a:rPr dirty="0" lang="en-US"/>
              <a:t>Identify your best trading hour(s)</a:t>
            </a:r>
          </a:p>
          <a:p>
            <a:r>
              <a:rPr dirty="0" lang="en-US"/>
              <a:t>Reduce screen time</a:t>
            </a:r>
          </a:p>
          <a:p>
            <a:r>
              <a:rPr dirty="0" lang="en-US"/>
              <a:t>Weekly planning → daily checklist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Risk Rules</a:t>
            </a: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Risk Before Reward</a:t>
            </a:r>
          </a:p>
          <a:p>
            <a:endParaRPr dirty="0" lang="en-US"/>
          </a:p>
          <a:p>
            <a:r>
              <a:rPr dirty="0" lang="en-US"/>
              <a:t>Max 1–2% per trade</a:t>
            </a:r>
          </a:p>
          <a:p>
            <a:r>
              <a:rPr dirty="0" lang="en-US"/>
              <a:t>Daily/Weekly loss limit</a:t>
            </a:r>
          </a:p>
          <a:p>
            <a:r>
              <a:rPr dirty="0" lang="en-US"/>
              <a:t>“No signal = no trade” rule</a:t>
            </a:r>
          </a:p>
          <a:p>
            <a:r>
              <a:rPr dirty="0" lang="en-US"/>
              <a:t>Avoid revenge trading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Journal &amp; Review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Your Journal = Your Teacher</a:t>
            </a:r>
          </a:p>
          <a:p>
            <a:endParaRPr dirty="0" lang="en-US"/>
          </a:p>
          <a:p>
            <a:r>
              <a:rPr dirty="0" lang="en-US"/>
              <a:t>What setup did you take?</a:t>
            </a:r>
          </a:p>
          <a:p>
            <a:r>
              <a:rPr dirty="0" lang="en-US"/>
              <a:t>Why did you enter?</a:t>
            </a:r>
          </a:p>
          <a:p>
            <a:r>
              <a:rPr dirty="0" lang="en-US"/>
              <a:t>What went right/wrong?</a:t>
            </a:r>
          </a:p>
          <a:p>
            <a:r>
              <a:rPr dirty="0" lang="en-US"/>
              <a:t>Review weekly → fix weaknesses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Consistency Proof</a:t>
            </a:r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What Consistency Looks Like</a:t>
            </a:r>
          </a:p>
          <a:p>
            <a:endParaRPr dirty="0" i="1" lang="en-US"/>
          </a:p>
          <a:p>
            <a:r>
              <a:rPr dirty="0" lang="en-US"/>
              <a:t>Cleaner charts</a:t>
            </a:r>
          </a:p>
          <a:p>
            <a:r>
              <a:rPr dirty="0" lang="en-US"/>
              <a:t>Fewer trades, </a:t>
            </a:r>
          </a:p>
          <a:p>
            <a:r>
              <a:rPr dirty="0" lang="en-US"/>
              <a:t>Better entries</a:t>
            </a:r>
          </a:p>
          <a:p>
            <a:r>
              <a:rPr dirty="0" lang="en-US"/>
              <a:t>Stronger discipline</a:t>
            </a:r>
          </a:p>
        </p:txBody>
      </p:sp>
      <p:pic>
        <p:nvPicPr>
          <p:cNvPr id="2097158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686109" y="1376218"/>
            <a:ext cx="3399473" cy="4304145"/>
          </a:xfrm>
          <a:prstGeom prst="rect"/>
        </p:spPr>
      </p:pic>
      <p:sp>
        <p:nvSpPr>
          <p:cNvPr id="1048637" name="TextBox 7"/>
          <p:cNvSpPr txBox="1"/>
          <p:nvPr/>
        </p:nvSpPr>
        <p:spPr>
          <a:xfrm>
            <a:off x="7887855" y="5680363"/>
            <a:ext cx="3511763" cy="338554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dirty="0" sz="1600" lang="en-US"/>
              <a:t>Result of staying consistent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Summary</a:t>
            </a:r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i="1" lang="en-US"/>
              <a:t>Consistency Key Takeaways</a:t>
            </a:r>
          </a:p>
          <a:p>
            <a:endParaRPr dirty="0" lang="en-US"/>
          </a:p>
          <a:p>
            <a:r>
              <a:rPr dirty="0" lang="en-US"/>
              <a:t>Simplicity wins</a:t>
            </a:r>
          </a:p>
          <a:p>
            <a:r>
              <a:rPr dirty="0" lang="en-US"/>
              <a:t>Trade high probability setup</a:t>
            </a:r>
          </a:p>
          <a:p>
            <a:r>
              <a:rPr dirty="0" lang="en-US"/>
              <a:t>Stick to a schedule</a:t>
            </a:r>
          </a:p>
          <a:p>
            <a:r>
              <a:rPr dirty="0" lang="en-US"/>
              <a:t>Track everything</a:t>
            </a:r>
          </a:p>
        </p:txBody>
      </p:sp>
      <p:sp>
        <p:nvSpPr>
          <p:cNvPr id="1048640" name="TextBox 5"/>
          <p:cNvSpPr txBox="1"/>
          <p:nvPr/>
        </p:nvSpPr>
        <p:spPr>
          <a:xfrm>
            <a:off x="7407563" y="5802868"/>
            <a:ext cx="6096000" cy="369332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i="1" lang="en-US"/>
              <a:t>Plan your Trade your 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FOLLOW THE PLAN</a:t>
            </a:r>
          </a:p>
        </p:txBody>
      </p:sp>
      <p:pic>
        <p:nvPicPr>
          <p:cNvPr id="2097159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035609" y="1600200"/>
            <a:ext cx="8120781" cy="45720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1060450" y="2971806"/>
            <a:ext cx="10071099" cy="1684150"/>
          </a:xfrm>
        </p:spPr>
        <p:txBody>
          <a:bodyPr/>
          <a:p>
            <a:r>
              <a:rPr dirty="0" lang="en-US"/>
              <a:t> THE GROWTH PHASES </a:t>
            </a:r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1234208" y="4655956"/>
            <a:ext cx="10071099" cy="509750"/>
          </a:xfrm>
        </p:spPr>
        <p:txBody>
          <a:bodyPr/>
          <a:p>
            <a:r>
              <a:rPr dirty="0" lang="en-US"/>
              <a:t>The 3 Trader Growth Phases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The 3 Trader Growth Phases</a:t>
            </a:r>
          </a:p>
        </p:txBody>
      </p:sp>
      <p:sp>
        <p:nvSpPr>
          <p:cNvPr id="1048651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142961" cy="4452730"/>
          </a:xfrm>
        </p:spPr>
        <p:txBody>
          <a:bodyPr/>
          <a:p>
            <a:r>
              <a:rPr dirty="0" i="1" lang="en-US"/>
              <a:t>Every Trader Grows Through 3 Stages</a:t>
            </a:r>
          </a:p>
          <a:p>
            <a:endParaRPr dirty="0" i="1" lang="en-US"/>
          </a:p>
          <a:p>
            <a:endParaRPr dirty="0" i="1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Foundation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Development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Execution/Mastery</a:t>
            </a:r>
          </a:p>
        </p:txBody>
      </p:sp>
      <p:pic>
        <p:nvPicPr>
          <p:cNvPr id="2097160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489448" y="1720574"/>
            <a:ext cx="5827644" cy="388509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Phase 1: Foundation</a:t>
            </a:r>
          </a:p>
        </p:txBody>
      </p:sp>
      <p:sp>
        <p:nvSpPr>
          <p:cNvPr id="104865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900" y="1689652"/>
            <a:ext cx="9410700" cy="4572000"/>
          </a:xfrm>
        </p:spPr>
        <p:txBody>
          <a:bodyPr/>
          <a:p>
            <a:r>
              <a:rPr dirty="0" i="1" lang="en-US"/>
              <a:t>Phase 1: The Beginner Stage</a:t>
            </a:r>
          </a:p>
          <a:p>
            <a:endParaRPr dirty="0" i="1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Get a mentor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Learn basics + market structure(understand the market you want to trade)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Understand one strategy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endParaRPr dirty="0" lang="en-US"/>
          </a:p>
          <a:p>
            <a:r>
              <a:rPr dirty="0" lang="en-US"/>
              <a:t>Common struggles: confusion, impatience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Growing in Phase 1</a:t>
            </a:r>
          </a:p>
        </p:txBody>
      </p:sp>
      <p:sp>
        <p:nvSpPr>
          <p:cNvPr id="1048655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How to Grow in Phase 1</a:t>
            </a:r>
          </a:p>
          <a:p>
            <a:endParaRPr dirty="0" i="1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Stick to ONE system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Start backtesting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Limit strategy hopping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Focus on discipline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Phase 2: Development</a:t>
            </a:r>
          </a:p>
        </p:txBody>
      </p:sp>
      <p:sp>
        <p:nvSpPr>
          <p:cNvPr id="1048657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Phase 2: The Skill-Building Stage</a:t>
            </a:r>
          </a:p>
          <a:p>
            <a:endParaRPr dirty="0" i="1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i="1" lang="en-US"/>
              <a:t>You know a strategy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i="1" lang="en-US"/>
              <a:t>Your emotions start affecting results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i="1" lang="en-US"/>
              <a:t>Most traders quit here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Growing in Phase 2</a:t>
            </a:r>
          </a:p>
        </p:txBody>
      </p:sp>
      <p:sp>
        <p:nvSpPr>
          <p:cNvPr id="1048659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How to Grow in Phase 2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Build a weekly routine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Deep journaling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Track setups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Emotional awareness training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Phase 3: Mastery</a:t>
            </a:r>
          </a:p>
        </p:txBody>
      </p:sp>
      <p:sp>
        <p:nvSpPr>
          <p:cNvPr id="1048661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Phase 3: Execution &amp; Confidence</a:t>
            </a:r>
          </a:p>
          <a:p>
            <a:endParaRPr dirty="0" i="1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More patience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Fewer but higher-quality setups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More predictable results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Growing in Phase 3</a:t>
            </a:r>
          </a:p>
        </p:txBody>
      </p:sp>
      <p:sp>
        <p:nvSpPr>
          <p:cNvPr id="104866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How to Grow in Phase 3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Scaling responsibly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System refinement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Deep backtesting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Peer review / community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Why Traders Get Stuck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899" y="1600200"/>
            <a:ext cx="7890013" cy="4572000"/>
          </a:xfrm>
        </p:spPr>
        <p:txBody>
          <a:bodyPr/>
          <a:p>
            <a:r>
              <a:rPr dirty="0" lang="en-US"/>
              <a:t>Why Most Traders Don’t Grow Beyond Phase 1 &amp; 2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No structure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No accountability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Emotional trading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Information overload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Approach and perspective towards Trading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ATA Growth Proof</a:t>
            </a:r>
          </a:p>
        </p:txBody>
      </p:sp>
      <p:sp>
        <p:nvSpPr>
          <p:cNvPr id="1048667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Real Examples from ATA Students</a:t>
            </a:r>
          </a:p>
          <a:p>
            <a:endParaRPr dirty="0" lang="en-US"/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Before/after charts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Weekly plans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Journals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Testimonials</a:t>
            </a:r>
          </a:p>
        </p:txBody>
      </p:sp>
      <p:pic>
        <p:nvPicPr>
          <p:cNvPr id="2097161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73717" y="1292086"/>
            <a:ext cx="3314383" cy="5489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pic>
        <p:nvPicPr>
          <p:cNvPr id="2097162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06674" y="3309729"/>
            <a:ext cx="3500281" cy="3369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sp>
        <p:nvSpPr>
          <p:cNvPr id="1048668" name="Content Placeholder 3"/>
          <p:cNvSpPr txBox="1"/>
          <p:nvPr/>
        </p:nvSpPr>
        <p:spPr>
          <a:xfrm rot="16200000">
            <a:off x="10021692" y="3458817"/>
            <a:ext cx="3084709" cy="387626"/>
          </a:xfrm>
          <a:prstGeom prst="rect"/>
        </p:spPr>
        <p:txBody>
          <a:bodyPr bIns="45720" lIns="0" rIns="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marL="285750"/>
            <a:r>
              <a:rPr dirty="0" lang="en-US"/>
              <a:t>Before/after charts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Testimonies </a:t>
            </a:r>
          </a:p>
        </p:txBody>
      </p:sp>
      <p:pic>
        <p:nvPicPr>
          <p:cNvPr id="2097163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822357" y="1655037"/>
            <a:ext cx="3282821" cy="5108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pic>
        <p:nvPicPr>
          <p:cNvPr id="2097164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73657" y="1772478"/>
            <a:ext cx="3768816" cy="49099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sp>
        <p:nvSpPr>
          <p:cNvPr id="1048670" name="Content Placeholder 3"/>
          <p:cNvSpPr>
            <a:spLocks noGrp="1"/>
          </p:cNvSpPr>
          <p:nvPr>
            <p:ph idx="1"/>
          </p:nvPr>
        </p:nvSpPr>
        <p:spPr>
          <a:xfrm>
            <a:off x="9020469" y="1267411"/>
            <a:ext cx="3084709" cy="387626"/>
          </a:xfrm>
        </p:spPr>
        <p:txBody>
          <a:bodyPr/>
          <a:p>
            <a:pPr indent="0" marL="0">
              <a:buNone/>
            </a:pPr>
            <a:r>
              <a:rPr dirty="0" lang="en-US"/>
              <a:t>Trading course Result</a:t>
            </a:r>
          </a:p>
        </p:txBody>
      </p:sp>
      <p:pic>
        <p:nvPicPr>
          <p:cNvPr id="2097165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318020" y="1772478"/>
            <a:ext cx="4313583" cy="4313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  <p:sp>
        <p:nvSpPr>
          <p:cNvPr id="1048671" name="Content Placeholder 3"/>
          <p:cNvSpPr txBox="1"/>
          <p:nvPr/>
        </p:nvSpPr>
        <p:spPr>
          <a:xfrm>
            <a:off x="5657764" y="1384852"/>
            <a:ext cx="3084709" cy="387626"/>
          </a:xfrm>
          <a:prstGeom prst="rect"/>
        </p:spPr>
        <p:txBody>
          <a:bodyPr bIns="45720" lIns="0" rIns="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Font typeface="Wingdings" panose="05000000000000000000" pitchFamily="2" charset="2"/>
              <a:buNone/>
            </a:pPr>
            <a:r>
              <a:rPr dirty="0" lang="en-US"/>
              <a:t>VIP signal Room Result</a:t>
            </a:r>
          </a:p>
        </p:txBody>
      </p:sp>
      <p:sp>
        <p:nvSpPr>
          <p:cNvPr id="1048672" name="Content Placeholder 3"/>
          <p:cNvSpPr txBox="1"/>
          <p:nvPr/>
        </p:nvSpPr>
        <p:spPr>
          <a:xfrm>
            <a:off x="891703" y="1384852"/>
            <a:ext cx="3084709" cy="387626"/>
          </a:xfrm>
          <a:prstGeom prst="rect"/>
        </p:spPr>
        <p:txBody>
          <a:bodyPr bIns="45720" lIns="0" rIns="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Font typeface="Wingdings" panose="05000000000000000000" pitchFamily="2" charset="2"/>
              <a:buNone/>
            </a:pPr>
            <a:r>
              <a:rPr dirty="0" lang="en-US"/>
              <a:t>VIP signal Room Result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What Phase Are You In?</a:t>
            </a:r>
          </a:p>
        </p:txBody>
      </p:sp>
      <p:sp>
        <p:nvSpPr>
          <p:cNvPr id="1048674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Identify Your Current Phase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1?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2?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3?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Section Summary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Growth Phases — Summary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1 → Learn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2 → Build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Phase 3 → Master</a:t>
            </a:r>
          </a:p>
        </p:txBody>
      </p:sp>
      <p:sp>
        <p:nvSpPr>
          <p:cNvPr id="1048677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1060450" y="2971806"/>
            <a:ext cx="10071099" cy="1684150"/>
          </a:xfrm>
        </p:spPr>
        <p:txBody>
          <a:bodyPr/>
          <a:p>
            <a:r>
              <a:rPr dirty="0" lang="en-US"/>
              <a:t>ROADMAP 2026</a:t>
            </a:r>
          </a:p>
        </p:txBody>
      </p:sp>
      <p:sp>
        <p:nvSpPr>
          <p:cNvPr id="1048679" name="Text Placeholder 2"/>
          <p:cNvSpPr>
            <a:spLocks noGrp="1"/>
          </p:cNvSpPr>
          <p:nvPr>
            <p:ph type="body" idx="1"/>
          </p:nvPr>
        </p:nvSpPr>
        <p:spPr>
          <a:xfrm>
            <a:off x="1060450" y="4516256"/>
            <a:ext cx="10071099" cy="509750"/>
          </a:xfrm>
        </p:spPr>
        <p:txBody>
          <a:bodyPr/>
          <a:p>
            <a:r>
              <a:rPr dirty="0" i="1" lang="en-US"/>
              <a:t>2026 = Your Structured Growth Year</a:t>
            </a:r>
          </a:p>
          <a:p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Step 1: Designing Your Roadmap</a:t>
            </a:r>
          </a:p>
        </p:txBody>
      </p:sp>
      <p:sp>
        <p:nvSpPr>
          <p:cNvPr id="1048681" name="TextBox 4"/>
          <p:cNvSpPr txBox="1"/>
          <p:nvPr/>
        </p:nvSpPr>
        <p:spPr>
          <a:xfrm>
            <a:off x="979369" y="1389064"/>
            <a:ext cx="6097604" cy="369332"/>
          </a:xfrm>
          <a:prstGeom prst="rect"/>
          <a:noFill/>
        </p:spPr>
        <p:txBody>
          <a:bodyPr wrap="square">
            <a:spAutoFit/>
          </a:bodyPr>
          <a:p>
            <a:r>
              <a:rPr dirty="0" i="1" lang="en-US"/>
              <a:t>2026 = Your Structured Growth Year</a:t>
            </a:r>
          </a:p>
        </p:txBody>
      </p:sp>
      <p:sp>
        <p:nvSpPr>
          <p:cNvPr id="1048682" name="Rectangle 1"/>
          <p:cNvSpPr>
            <a:spLocks noChangeArrowheads="1"/>
          </p:cNvSpPr>
          <p:nvPr/>
        </p:nvSpPr>
        <p:spPr bwMode="auto">
          <a:xfrm rot="10800000" flipV="1">
            <a:off x="979369" y="2371291"/>
            <a:ext cx="4991100" cy="1631216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cannot grow randomly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need a plan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Let’s build your roadmap together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Step 2: Identify Your Phase</a:t>
            </a:r>
          </a:p>
        </p:txBody>
      </p:sp>
      <p:sp>
        <p:nvSpPr>
          <p:cNvPr id="1048692" name="Text Placeholder 2"/>
          <p:cNvSpPr>
            <a:spLocks noGrp="1"/>
          </p:cNvSpPr>
          <p:nvPr>
            <p:ph type="body" idx="1"/>
          </p:nvPr>
        </p:nvSpPr>
        <p:spPr>
          <a:xfrm>
            <a:off x="1124721" y="1228725"/>
            <a:ext cx="4919472" cy="569912"/>
          </a:xfrm>
        </p:spPr>
        <p:txBody>
          <a:bodyPr>
            <a:normAutofit/>
          </a:bodyPr>
          <a:p>
            <a:r>
              <a:rPr b="0" dirty="0" sz="2000" i="1" lang="en-US"/>
              <a:t>Choose Your Starting Point</a:t>
            </a:r>
          </a:p>
        </p:txBody>
      </p:sp>
      <p:sp>
        <p:nvSpPr>
          <p:cNvPr id="1048693" name="Content Placeholder 3"/>
          <p:cNvSpPr>
            <a:spLocks noGrp="1"/>
          </p:cNvSpPr>
          <p:nvPr>
            <p:ph sz="half" idx="2"/>
          </p:nvPr>
        </p:nvSpPr>
        <p:spPr>
          <a:xfrm>
            <a:off x="1175769" y="2246312"/>
            <a:ext cx="4919472" cy="1627188"/>
          </a:xfrm>
        </p:spPr>
        <p:txBody>
          <a:bodyPr/>
          <a:p>
            <a:r>
              <a:rPr dirty="0" lang="en-US"/>
              <a:t>Phase 1 → Learning</a:t>
            </a:r>
          </a:p>
          <a:p>
            <a:r>
              <a:rPr dirty="0" lang="en-US"/>
              <a:t>Phase 2 → Consistency building</a:t>
            </a:r>
          </a:p>
          <a:p>
            <a:r>
              <a:rPr dirty="0" lang="en-US"/>
              <a:t>Phase 3 → Scaling</a:t>
            </a:r>
          </a:p>
          <a:p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Step 3: Create Your Vision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Your 2026 Skill Vision</a:t>
            </a:r>
          </a:p>
          <a:p>
            <a:endParaRPr dirty="0" i="1" lang="en-US"/>
          </a:p>
          <a:p>
            <a:r>
              <a:rPr dirty="0" lang="en-US"/>
              <a:t>Define your: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Preferred market (FX, crypto, indices)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Core strategy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Trading time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Level of discipline</a:t>
            </a:r>
          </a:p>
          <a:p>
            <a:endParaRPr dirty="0" i="1" lang="en-US"/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Step 3: Quarterly Growth Plan</a:t>
            </a:r>
          </a:p>
        </p:txBody>
      </p:sp>
      <p:sp>
        <p:nvSpPr>
          <p:cNvPr id="1048698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p>
            <a:r>
              <a:rPr dirty="0" sz="2000" i="1" lang="en-US"/>
              <a:t>Your 2026 Quarterly Breakdown</a:t>
            </a:r>
            <a:endParaRPr b="1" dirty="0" sz="2000" i="1" lang="en-US"/>
          </a:p>
          <a:p>
            <a:endParaRPr b="1" dirty="0" sz="2000" lang="en-US"/>
          </a:p>
          <a:p>
            <a:r>
              <a:rPr b="1" dirty="0" sz="2000" lang="en-US"/>
              <a:t>Q1:</a:t>
            </a:r>
            <a:r>
              <a:rPr dirty="0" sz="2000" lang="en-US"/>
              <a:t> Learn + Backtest</a:t>
            </a:r>
          </a:p>
          <a:p>
            <a:br>
              <a:rPr dirty="0" sz="2000" lang="en-US"/>
            </a:br>
            <a:r>
              <a:rPr b="1" dirty="0" sz="2000" lang="en-US"/>
              <a:t>Q2:</a:t>
            </a:r>
            <a:r>
              <a:rPr dirty="0" sz="2000" lang="en-US"/>
              <a:t> Structure + Routine</a:t>
            </a:r>
          </a:p>
          <a:p>
            <a:br>
              <a:rPr dirty="0" sz="2000" lang="en-US"/>
            </a:br>
            <a:r>
              <a:rPr b="1" dirty="0" sz="2000" lang="en-US"/>
              <a:t>Q3:</a:t>
            </a:r>
            <a:r>
              <a:rPr dirty="0" sz="2000" lang="en-US"/>
              <a:t> Live account consistency</a:t>
            </a:r>
          </a:p>
          <a:p>
            <a:br>
              <a:rPr dirty="0" sz="2000" lang="en-US"/>
            </a:br>
            <a:r>
              <a:rPr b="1" dirty="0" sz="2000" lang="en-US"/>
              <a:t>Q4:</a:t>
            </a:r>
            <a:r>
              <a:rPr dirty="0" sz="2000" lang="en-US"/>
              <a:t> Refinement + Scaling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Your Trading Routine</a:t>
            </a:r>
          </a:p>
        </p:txBody>
      </p:sp>
      <p:sp>
        <p:nvSpPr>
          <p:cNvPr id="1048700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i="1" lang="en-US"/>
              <a:t>Daily &amp; Weekly Routine Template</a:t>
            </a:r>
          </a:p>
          <a:p>
            <a:endParaRPr dirty="0" i="1" lang="en-US"/>
          </a:p>
          <a:p>
            <a:r>
              <a:rPr b="1" dirty="0" lang="en-US"/>
              <a:t>Daily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Markup charts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Journal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Take only valid setups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Weekly: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endParaRPr dirty="0" lang="en-US"/>
          </a:p>
          <a:p>
            <a:r>
              <a:rPr b="1" dirty="0" lang="en-US"/>
              <a:t>Backtest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Review past trades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lang="en-US"/>
              <a:t>Update plan</a:t>
            </a:r>
          </a:p>
          <a:p>
            <a:endParaRPr dirty="0" i="1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Risk &amp; Psychology Goals</a:t>
            </a:r>
          </a:p>
        </p:txBody>
      </p:sp>
      <p:sp>
        <p:nvSpPr>
          <p:cNvPr id="1048702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5384390" cy="4572000"/>
          </a:xfrm>
        </p:spPr>
        <p:txBody>
          <a:bodyPr>
            <a:normAutofit/>
          </a:bodyPr>
          <a:p>
            <a:r>
              <a:rPr dirty="0" sz="2000" i="1" lang="en-US"/>
              <a:t>Master Your Mind = Master Your Trades</a:t>
            </a:r>
          </a:p>
          <a:p>
            <a:endParaRPr dirty="0" sz="2000" i="1" lang="en-US"/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Max risk per trade</a:t>
            </a:r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Daily reset routine</a:t>
            </a:r>
          </a:p>
          <a:p>
            <a:pPr indent="-342900" marL="342900">
              <a:buFont typeface="Wingdings" panose="05000000000000000000" pitchFamily="2" charset="2"/>
              <a:buChar char="q"/>
            </a:pPr>
            <a:r>
              <a:rPr dirty="0" sz="2000" lang="en-US"/>
              <a:t>Emotional discipline checklist</a:t>
            </a:r>
          </a:p>
          <a:p>
            <a:endParaRPr dirty="0" sz="2000" i="1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Tools You Need for 2026</a:t>
            </a:r>
          </a:p>
        </p:txBody>
      </p:sp>
      <p:sp>
        <p:nvSpPr>
          <p:cNvPr id="1048704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lang="en-US"/>
              <a:t>Your Trading Toolkit</a:t>
            </a:r>
          </a:p>
          <a:p>
            <a:endParaRPr dirty="0" lang="en-US"/>
          </a:p>
          <a:p>
            <a:r>
              <a:rPr dirty="0" lang="en-US"/>
              <a:t>Strategy checklist</a:t>
            </a:r>
          </a:p>
          <a:p>
            <a:r>
              <a:rPr dirty="0" lang="en-US"/>
              <a:t>Trading journal</a:t>
            </a:r>
          </a:p>
          <a:p>
            <a:r>
              <a:rPr dirty="0" lang="en-US"/>
              <a:t>Backtesting sheet</a:t>
            </a:r>
          </a:p>
          <a:p>
            <a:r>
              <a:rPr dirty="0" lang="en-US"/>
              <a:t>ATA community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Tools You Need for 2026</a:t>
            </a:r>
          </a:p>
        </p:txBody>
      </p:sp>
      <p:sp>
        <p:nvSpPr>
          <p:cNvPr id="1048706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900" y="1397000"/>
            <a:ext cx="10363200" cy="5702300"/>
          </a:xfrm>
        </p:spPr>
        <p:txBody>
          <a:bodyPr>
            <a:noAutofit/>
          </a:bodyPr>
          <a:p>
            <a:r>
              <a:rPr b="1" dirty="0" lang="en-US"/>
              <a:t>Your Trading Toolkit for Beginners</a:t>
            </a:r>
          </a:p>
          <a:p>
            <a:r>
              <a:rPr dirty="0" lang="en-US"/>
              <a:t>To grow as a trader, you don’t need 10 strategies — you need the right tools.</a:t>
            </a:r>
            <a:br>
              <a:rPr dirty="0" lang="en-US"/>
            </a:br>
            <a:r>
              <a:rPr dirty="0" lang="en-US"/>
              <a:t>Here’s the exact toolkit every beginner should start with:</a:t>
            </a:r>
          </a:p>
          <a:p>
            <a:endParaRPr b="1" dirty="0" lang="en-US"/>
          </a:p>
          <a:p>
            <a:pPr indent="-342900" marL="342900">
              <a:buFont typeface="+mj-lt"/>
              <a:buAutoNum type="arabicPeriod"/>
            </a:pPr>
            <a:r>
              <a:rPr b="1" dirty="0" lang="en-US"/>
              <a:t> Charting Terminal — </a:t>
            </a:r>
            <a:r>
              <a:rPr b="1" dirty="0" lang="en-US" err="1"/>
              <a:t>TradingView</a:t>
            </a:r>
            <a:endParaRPr b="1" dirty="0" lang="en-US"/>
          </a:p>
          <a:p>
            <a:pPr lvl="1"/>
            <a:r>
              <a:rPr dirty="0" sz="1800" lang="en-US"/>
              <a:t>Your main workspace for analysis, charting, and tracking market structure.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lang="en-US"/>
              <a:t> Broker / Exchange</a:t>
            </a:r>
          </a:p>
          <a:p>
            <a:pPr lvl="1"/>
            <a:r>
              <a:rPr dirty="0" sz="1800" lang="en-US"/>
              <a:t>Where your trades are executed.</a:t>
            </a:r>
            <a:br>
              <a:rPr dirty="0" sz="1800" lang="en-US"/>
            </a:br>
            <a:r>
              <a:rPr dirty="0" sz="1800" lang="en-US"/>
              <a:t>Use a reliable, regulated platform only.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lang="en-US"/>
              <a:t> Trading Journal</a:t>
            </a:r>
          </a:p>
          <a:p>
            <a:pPr lvl="1"/>
            <a:r>
              <a:rPr dirty="0" sz="1800" lang="en-US"/>
              <a:t>The most important tool for growth.</a:t>
            </a:r>
            <a:br>
              <a:rPr dirty="0" sz="1800" lang="en-US"/>
            </a:br>
            <a:r>
              <a:rPr dirty="0" sz="1800" lang="en-US"/>
              <a:t>Track your trades, emotions, mistakes, and improvements.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lang="en-US"/>
              <a:t> ATA Community</a:t>
            </a:r>
          </a:p>
          <a:p>
            <a:pPr indent="-342900" lvl="1" marL="800100">
              <a:buFont typeface="+mj-lt"/>
              <a:buAutoNum type="arabicPeriod"/>
            </a:pPr>
            <a:r>
              <a:rPr dirty="0" sz="1800" lang="en-US"/>
              <a:t>A support system where you can learn, ask questions, stay accountable, and grow with other traders.</a:t>
            </a:r>
          </a:p>
          <a:p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sz="2000" i="1" lang="en-US"/>
              <a:t>How ATA Helps You Grow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Courses: Beginner → Advanced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Mentorship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Journals, templates, checklists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Community feedback</a:t>
            </a:r>
          </a:p>
        </p:txBody>
      </p:sp>
      <p:sp>
        <p:nvSpPr>
          <p:cNvPr id="1048708" name="Content Placeholder 3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p>
            <a:r>
              <a:rPr dirty="0" lang="en-US"/>
              <a:t>ATA Ecosystem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Why ATA Works</a:t>
            </a:r>
          </a:p>
        </p:txBody>
      </p:sp>
      <p:sp>
        <p:nvSpPr>
          <p:cNvPr id="1048710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p>
            <a:r>
              <a:rPr dirty="0" sz="2000" i="1" lang="en-US"/>
              <a:t>4 Reasons ATA Helps You Grow Faster</a:t>
            </a:r>
          </a:p>
          <a:p>
            <a:endParaRPr dirty="0" sz="2000" i="1" lang="en-US"/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Clear structure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Accountability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Routine building</a:t>
            </a:r>
          </a:p>
          <a:p>
            <a:pPr indent="-285750" marL="285750">
              <a:buFont typeface="Wingdings" panose="05000000000000000000" pitchFamily="2" charset="2"/>
              <a:buChar char="q"/>
            </a:pPr>
            <a:r>
              <a:rPr dirty="0" sz="2000" lang="en-US"/>
              <a:t>Community support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i="1" lang="en-US"/>
              <a:t>Want Personal Help With Your Roadmap?</a:t>
            </a:r>
            <a:endParaRPr dirty="0" lang="en-US"/>
          </a:p>
        </p:txBody>
      </p:sp>
      <p:sp>
        <p:nvSpPr>
          <p:cNvPr id="1048712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dirty="0" lang="en-US"/>
              <a:t>Join ATA Mentorship Program</a:t>
            </a:r>
          </a:p>
          <a:p>
            <a:endParaRPr dirty="0" lang="en-US"/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Full roadmap support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Weekly reviews</a:t>
            </a:r>
          </a:p>
          <a:p>
            <a:pPr indent="-285750" marL="285750">
              <a:buFont typeface="Wingdings" panose="05000000000000000000" pitchFamily="2" charset="2"/>
              <a:buChar char="§"/>
            </a:pPr>
            <a:r>
              <a:rPr dirty="0" lang="en-US"/>
              <a:t>Accountability</a:t>
            </a:r>
          </a:p>
          <a:p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Follow Us</a:t>
            </a:r>
          </a:p>
        </p:txBody>
      </p:sp>
      <p:sp>
        <p:nvSpPr>
          <p:cNvPr id="1048714" name="Text Placeholder 2"/>
          <p:cNvSpPr>
            <a:spLocks noGrp="1"/>
          </p:cNvSpPr>
          <p:nvPr>
            <p:ph type="body" sz="half" idx="2"/>
          </p:nvPr>
        </p:nvSpPr>
        <p:spPr>
          <a:xfrm>
            <a:off x="1104899" y="1600200"/>
            <a:ext cx="9520031" cy="4572000"/>
          </a:xfrm>
        </p:spPr>
        <p:txBody>
          <a:bodyPr>
            <a:normAutofit/>
          </a:bodyPr>
          <a:p>
            <a:r>
              <a:rPr dirty="0" lang="en-US"/>
              <a:t>Stay Connected with ATA</a:t>
            </a:r>
          </a:p>
          <a:p>
            <a:endParaRPr dirty="0" lang="en-US"/>
          </a:p>
          <a:p>
            <a:endParaRPr dirty="0" lang="en-US"/>
          </a:p>
          <a:p>
            <a:r>
              <a:rPr b="1" dirty="0" lang="en-US"/>
              <a:t>Telegram </a:t>
            </a:r>
          </a:p>
          <a:p>
            <a:r>
              <a:rPr dirty="0" lang="en-US"/>
              <a:t>https://t.me/TraderReset2025</a:t>
            </a:r>
          </a:p>
          <a:p>
            <a:r>
              <a:rPr b="1" dirty="0" lang="en-US"/>
              <a:t>Facebook</a:t>
            </a:r>
          </a:p>
          <a:p>
            <a:r>
              <a:rPr dirty="0" lang="en-US"/>
              <a:t>https://www.facebook.com/share/1KnjGo2naY/</a:t>
            </a:r>
          </a:p>
          <a:p>
            <a:r>
              <a:rPr b="1" dirty="0" lang="en-US"/>
              <a:t>Whatsapp </a:t>
            </a:r>
          </a:p>
          <a:p>
            <a:r>
              <a:rPr dirty="0" lang="en-US">
                <a:hlinkClick r:id="rId1"/>
              </a:rPr>
              <a:t>https://chat.whatsapp.com/K5beqvgp3OE6mzY9WXaCNK?mode=wwt</a:t>
            </a:r>
            <a:endParaRPr dirty="0" lang="en-US"/>
          </a:p>
          <a:p>
            <a:br>
              <a:rPr dirty="0" lang="en-US"/>
            </a:br>
            <a:r>
              <a:rPr dirty="0" lang="en-US"/>
              <a:t>Daily lessons, charts &amp; trading resources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56769" y="892969"/>
            <a:ext cx="5478462" cy="5478462"/>
          </a:xfrm>
          <a:prstGeom prst="rect"/>
        </p:spPr>
      </p:pic>
      <p:sp>
        <p:nvSpPr>
          <p:cNvPr id="1048718" name="TextBox 4"/>
          <p:cNvSpPr txBox="1"/>
          <p:nvPr/>
        </p:nvSpPr>
        <p:spPr>
          <a:xfrm>
            <a:off x="812800" y="320437"/>
            <a:ext cx="6096000" cy="400110"/>
          </a:xfrm>
          <a:prstGeom prst="rect"/>
          <a:noFill/>
        </p:spPr>
        <p:txBody>
          <a:bodyPr wrap="square">
            <a:spAutoFit/>
          </a:bodyPr>
          <a:p>
            <a:r>
              <a:rPr b="1" dirty="0" sz="2000" lang="en-US"/>
              <a:t>Any Questions? Let’s Talk.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Thank You</a:t>
            </a:r>
          </a:p>
        </p:txBody>
      </p:sp>
      <p:sp>
        <p:nvSpPr>
          <p:cNvPr id="1048720" name="TextBox 7"/>
          <p:cNvSpPr txBox="1"/>
          <p:nvPr/>
        </p:nvSpPr>
        <p:spPr>
          <a:xfrm>
            <a:off x="1104900" y="1593334"/>
            <a:ext cx="6096000" cy="369332"/>
          </a:xfrm>
          <a:prstGeom prst="rect"/>
          <a:noFill/>
        </p:spPr>
        <p:txBody>
          <a:bodyPr wrap="square">
            <a:spAutoFit/>
          </a:bodyPr>
          <a:p>
            <a:r>
              <a:rPr dirty="0" i="1" lang="en-US"/>
              <a:t>Thank You for Joining the Webinar</a:t>
            </a:r>
          </a:p>
        </p:txBody>
      </p:sp>
      <p:pic>
        <p:nvPicPr>
          <p:cNvPr id="2097167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23975" y="2382838"/>
            <a:ext cx="6096000" cy="396897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Custom 2">
      <a:dk1>
        <a:srgbClr val="002060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r="5400000" dist="25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r="5400000" dist="25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r="5400000" dist="25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r="5400000" dist="254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Bulus David</dc:creator>
  <cp:lastModifiedBy>Bulus David</cp:lastModifiedBy>
  <dcterms:created xsi:type="dcterms:W3CDTF">2025-11-29T06:47:49Z</dcterms:created>
  <dcterms:modified xsi:type="dcterms:W3CDTF">2026-01-01T01:18:40Z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2030539b04234720ae8633b15a614cdc</vt:lpwstr>
  </property>
</Properties>
</file>